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3">
  <p:sldMasterIdLst>
    <p:sldMasterId id="2147483648" r:id="rId1"/>
  </p:sldMasterIdLst>
  <p:notesMasterIdLst>
    <p:notesMasterId r:id="rId9"/>
  </p:notesMasterIdLst>
  <p:sldIdLst>
    <p:sldId id="413" r:id="rId3"/>
    <p:sldId id="415" r:id="rId4"/>
    <p:sldId id="418" r:id="rId5"/>
    <p:sldId id="663" r:id="rId6"/>
    <p:sldId id="416" r:id="rId7"/>
    <p:sldId id="667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orld !" initials="W!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6909"/>
    <a:srgbClr val="BF9000"/>
    <a:srgbClr val="7F6000"/>
    <a:srgbClr val="C1AD35"/>
    <a:srgbClr val="D37726"/>
    <a:srgbClr val="93670F"/>
    <a:srgbClr val="A9584C"/>
    <a:srgbClr val="0F78C3"/>
    <a:srgbClr val="FFC000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67" autoAdjust="0"/>
    <p:restoredTop sz="95201" autoAdjust="0"/>
  </p:normalViewPr>
  <p:slideViewPr>
    <p:cSldViewPr snapToGrid="0">
      <p:cViewPr varScale="1">
        <p:scale>
          <a:sx n="96" d="100"/>
          <a:sy n="96" d="100"/>
        </p:scale>
        <p:origin x="101" y="62"/>
      </p:cViewPr>
      <p:guideLst/>
    </p:cSldViewPr>
  </p:slideViewPr>
  <p:outlineViewPr>
    <p:cViewPr>
      <p:scale>
        <a:sx n="33" d="100"/>
        <a:sy n="33" d="100"/>
      </p:scale>
      <p:origin x="0" y="-2394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5130"/>
    </p:cViewPr>
  </p:sorterViewPr>
  <p:notesViewPr>
    <p:cSldViewPr snapToGrid="0">
      <p:cViewPr varScale="1">
        <p:scale>
          <a:sx n="66" d="100"/>
          <a:sy n="66" d="100"/>
        </p:scale>
        <p:origin x="2628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D0B298-4202-4CC8-9A55-E4F3A856E20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053755-F96D-4BCD-839A-0F5B5CE827A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D9B9E-4049-46EC-BA45-61482909A2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E7C6A-F501-4051-B8BE-F21EB9C859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D9B9E-4049-46EC-BA45-61482909A2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E7C6A-F501-4051-B8BE-F21EB9C859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D9B9E-4049-46EC-BA45-61482909A2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E7C6A-F501-4051-B8BE-F21EB9C859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D9B9E-4049-46EC-BA45-61482909A2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E7C6A-F501-4051-B8BE-F21EB9C859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D9B9E-4049-46EC-BA45-61482909A2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E7C6A-F501-4051-B8BE-F21EB9C859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D9B9E-4049-46EC-BA45-61482909A2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E7C6A-F501-4051-B8BE-F21EB9C859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D9B9E-4049-46EC-BA45-61482909A2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E7C6A-F501-4051-B8BE-F21EB9C859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D9B9E-4049-46EC-BA45-61482909A2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E7C6A-F501-4051-B8BE-F21EB9C859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D9B9E-4049-46EC-BA45-61482909A2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E7C6A-F501-4051-B8BE-F21EB9C859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D9B9E-4049-46EC-BA45-61482909A2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E7C6A-F501-4051-B8BE-F21EB9C859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D9B9E-4049-46EC-BA45-61482909A2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E7C6A-F501-4051-B8BE-F21EB9C859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D9B9E-4049-46EC-BA45-61482909A2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E7C6A-F501-4051-B8BE-F21EB9C8591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1065"/>
            <a:ext cx="4456090" cy="57591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latin typeface="等线" panose="02010600030101010101" pitchFamily="2" charset="-122"/>
                <a:ea typeface="等线" panose="02010600030101010101" pitchFamily="2" charset="-122"/>
              </a:rPr>
              <a:t>FreeRTOS</a:t>
            </a:r>
            <a:r>
              <a:rPr lang="zh-CN" altLang="en-US" sz="3200">
                <a:latin typeface="等线" panose="02010600030101010101" pitchFamily="2" charset="-122"/>
                <a:ea typeface="等线" panose="02010600030101010101" pitchFamily="2" charset="-122"/>
              </a:rPr>
              <a:t>简介</a:t>
            </a:r>
            <a:endParaRPr lang="zh-CN" altLang="en-US" sz="32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0865" y="1236345"/>
            <a:ext cx="11050270" cy="21932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Wingdings" panose="05000000000000000000" charset="0"/>
              <a:buChar char="l"/>
            </a:pPr>
            <a:r>
              <a:rPr lang="en-US" altLang="zh-CN" sz="2400">
                <a:sym typeface="+mn-ea"/>
              </a:rPr>
              <a:t>FreeRTOS</a:t>
            </a:r>
            <a:r>
              <a:rPr lang="zh-CN" altLang="en-US" sz="2400">
                <a:sym typeface="+mn-ea"/>
              </a:rPr>
              <a:t>（</a:t>
            </a:r>
            <a:r>
              <a:rPr lang="en-US" altLang="zh-CN" sz="2400">
                <a:sym typeface="+mn-ea"/>
              </a:rPr>
              <a:t>Free Real-Time Operating System</a:t>
            </a:r>
            <a:r>
              <a:rPr lang="zh-CN" altLang="en-US" sz="2400">
                <a:sym typeface="+mn-ea"/>
              </a:rPr>
              <a:t>）是一款开源的实时操作系统</a:t>
            </a:r>
            <a:endParaRPr lang="zh-CN" altLang="en-US" sz="2400"/>
          </a:p>
          <a:p>
            <a:pPr marL="342900" indent="-342900">
              <a:buFont typeface="Wingdings" panose="05000000000000000000" charset="0"/>
              <a:buChar char="l"/>
            </a:pPr>
            <a:endParaRPr lang="zh-CN" altLang="en-US" sz="2400"/>
          </a:p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400"/>
              <a:t>全球市场份额高达</a:t>
            </a:r>
            <a:r>
              <a:rPr lang="en-US" altLang="zh-CN" sz="2400"/>
              <a:t>35%-40%</a:t>
            </a:r>
            <a:r>
              <a:rPr lang="zh-CN" altLang="en-US" sz="2400"/>
              <a:t>（数据来源</a:t>
            </a:r>
            <a:r>
              <a:rPr lang="en-US" altLang="zh-CN" sz="2400"/>
              <a:t>deepseek[2025]</a:t>
            </a:r>
            <a:r>
              <a:rPr lang="zh-CN" altLang="en-US" sz="2400"/>
              <a:t>）</a:t>
            </a:r>
            <a:endParaRPr lang="zh-CN" altLang="en-US" sz="2400"/>
          </a:p>
          <a:p>
            <a:pPr marL="342900" indent="-342900">
              <a:buFont typeface="Wingdings" panose="05000000000000000000" charset="0"/>
              <a:buChar char="l"/>
            </a:pPr>
            <a:endParaRPr lang="zh-CN" altLang="en-US" sz="2400"/>
          </a:p>
          <a:p>
            <a:pPr marL="342900" indent="-342900">
              <a:buFont typeface="Wingdings" panose="05000000000000000000" charset="0"/>
              <a:buChar char="l"/>
            </a:pPr>
            <a:r>
              <a:rPr lang="en-US" altLang="zh-CN" sz="2400"/>
              <a:t>STM32CubeMX</a:t>
            </a:r>
            <a:r>
              <a:rPr lang="zh-CN" altLang="en-US" sz="2400"/>
              <a:t>支持一键移植</a:t>
            </a:r>
            <a:r>
              <a:rPr lang="en-US" altLang="zh-CN" sz="2400"/>
              <a:t>FreeRTOS</a:t>
            </a:r>
            <a:endParaRPr lang="en-US" altLang="zh-CN" sz="2400"/>
          </a:p>
          <a:p>
            <a:pPr indent="0">
              <a:buFont typeface="Wingdings" panose="05000000000000000000" charset="0"/>
              <a:buNone/>
            </a:pPr>
            <a:endParaRPr lang="zh-CN" altLang="en-US" sz="2400"/>
          </a:p>
        </p:txBody>
      </p:sp>
      <p:sp>
        <p:nvSpPr>
          <p:cNvPr id="5" name="文本框 4"/>
          <p:cNvSpPr txBox="1"/>
          <p:nvPr/>
        </p:nvSpPr>
        <p:spPr>
          <a:xfrm>
            <a:off x="570865" y="3919220"/>
            <a:ext cx="10898505" cy="15659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>
                <a:sym typeface="+mn-ea"/>
              </a:rPr>
              <a:t>核心功能：任务管理</a:t>
            </a:r>
            <a:r>
              <a:rPr lang="en-US" altLang="zh-CN" sz="2000">
                <a:sym typeface="+mn-ea"/>
              </a:rPr>
              <a:t>/</a:t>
            </a:r>
            <a:r>
              <a:rPr lang="zh-CN" altLang="en-US" sz="2000">
                <a:sym typeface="+mn-ea"/>
              </a:rPr>
              <a:t>内存管理</a:t>
            </a:r>
            <a:r>
              <a:rPr lang="en-US" altLang="zh-CN" sz="2000">
                <a:sym typeface="+mn-ea"/>
              </a:rPr>
              <a:t>/</a:t>
            </a:r>
            <a:r>
              <a:rPr lang="zh-CN" altLang="en-US" sz="2000">
                <a:sym typeface="+mn-ea"/>
              </a:rPr>
              <a:t>通信机制</a:t>
            </a:r>
            <a:r>
              <a:rPr lang="en-US" altLang="zh-CN" sz="2000">
                <a:sym typeface="+mn-ea"/>
              </a:rPr>
              <a:t>/</a:t>
            </a:r>
            <a:r>
              <a:rPr lang="zh-CN" altLang="en-US" sz="2000">
                <a:sym typeface="+mn-ea"/>
              </a:rPr>
              <a:t>软件定时器</a:t>
            </a:r>
            <a:endParaRPr lang="zh-CN" altLang="en-US" sz="2000"/>
          </a:p>
          <a:p>
            <a:pPr marL="342900" indent="-342900">
              <a:buFont typeface="Wingdings" panose="05000000000000000000" charset="0"/>
              <a:buChar char="l"/>
            </a:pPr>
            <a:endParaRPr lang="zh-CN" altLang="en-US" sz="2000"/>
          </a:p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/>
              <a:t>优势：开源与免费、轻量高效、可移植性强、</a:t>
            </a:r>
            <a:r>
              <a:rPr lang="zh-CN" altLang="en-US" sz="2000"/>
              <a:t>低功耗支持、丰富的生态</a:t>
            </a:r>
            <a:endParaRPr lang="zh-CN" altLang="en-US" sz="2000"/>
          </a:p>
          <a:p>
            <a:pPr marL="342900" indent="-342900">
              <a:buFont typeface="Wingdings" panose="05000000000000000000" charset="0"/>
              <a:buChar char="l"/>
            </a:pPr>
            <a:endParaRPr lang="zh-CN" altLang="en-US" sz="2000"/>
          </a:p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/>
              <a:t>应用场景：物联网设备、工业控制、消费电子等实时性要求高的领域。</a:t>
            </a:r>
            <a:endParaRPr lang="zh-CN" altLang="en-US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1065"/>
            <a:ext cx="4456090" cy="57591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>
                <a:latin typeface="等线" panose="02010600030101010101" pitchFamily="2" charset="-122"/>
                <a:ea typeface="等线" panose="02010600030101010101" pitchFamily="2" charset="-122"/>
              </a:rPr>
              <a:t>硬件设备</a:t>
            </a:r>
            <a:endParaRPr lang="zh-CN" altLang="en-US" sz="32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2" name="图片 1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0710" y="1085215"/>
            <a:ext cx="8450580" cy="54635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1065"/>
            <a:ext cx="4456090" cy="57591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>
                <a:latin typeface="等线" panose="02010600030101010101" pitchFamily="2" charset="-122"/>
                <a:ea typeface="等线" panose="02010600030101010101" pitchFamily="2" charset="-122"/>
              </a:rPr>
              <a:t>实验现象</a:t>
            </a:r>
            <a:r>
              <a:rPr lang="en-US" altLang="zh-CN" sz="3200">
                <a:latin typeface="等线" panose="02010600030101010101" pitchFamily="2" charset="-122"/>
                <a:ea typeface="等线" panose="02010600030101010101" pitchFamily="2" charset="-122"/>
              </a:rPr>
              <a:t>/</a:t>
            </a:r>
            <a:r>
              <a:rPr lang="zh-CN" altLang="en-US" sz="3200">
                <a:latin typeface="等线" panose="02010600030101010101" pitchFamily="2" charset="-122"/>
                <a:ea typeface="等线" panose="02010600030101010101" pitchFamily="2" charset="-122"/>
              </a:rPr>
              <a:t>数据</a:t>
            </a:r>
            <a:r>
              <a:rPr lang="zh-CN" altLang="en-US" sz="3200">
                <a:latin typeface="等线" panose="02010600030101010101" pitchFamily="2" charset="-122"/>
                <a:ea typeface="等线" panose="02010600030101010101" pitchFamily="2" charset="-122"/>
              </a:rPr>
              <a:t>成果展示</a:t>
            </a:r>
            <a:endParaRPr lang="zh-CN" altLang="en-US" sz="32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19225" y="1802130"/>
            <a:ext cx="3129280" cy="626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400"/>
              <a:t>OLED</a:t>
            </a:r>
            <a:r>
              <a:rPr lang="zh-CN" altLang="en-US" sz="2400"/>
              <a:t>展示实时数据</a:t>
            </a:r>
            <a:endParaRPr lang="zh-CN" altLang="en-US" sz="2400"/>
          </a:p>
          <a:p>
            <a:pPr indent="0">
              <a:buFont typeface="Wingdings" panose="05000000000000000000" charset="0"/>
              <a:buNone/>
            </a:pPr>
            <a:endParaRPr lang="zh-CN" altLang="en-US" sz="2400"/>
          </a:p>
        </p:txBody>
      </p:sp>
      <p:sp>
        <p:nvSpPr>
          <p:cNvPr id="3" name="文本框 2"/>
          <p:cNvSpPr txBox="1"/>
          <p:nvPr/>
        </p:nvSpPr>
        <p:spPr>
          <a:xfrm>
            <a:off x="1696085" y="3355975"/>
            <a:ext cx="618490" cy="2978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sym typeface="+mn-ea"/>
              </a:rPr>
              <a:t>网</a:t>
            </a:r>
            <a:endParaRPr lang="zh-CN" altLang="en-US" sz="2400">
              <a:sym typeface="+mn-ea"/>
            </a:endParaRPr>
          </a:p>
          <a:p>
            <a:r>
              <a:rPr lang="zh-CN" altLang="en-US" sz="2400">
                <a:sym typeface="+mn-ea"/>
              </a:rPr>
              <a:t>页</a:t>
            </a:r>
            <a:endParaRPr lang="zh-CN" altLang="en-US" sz="2400">
              <a:sym typeface="+mn-ea"/>
            </a:endParaRPr>
          </a:p>
          <a:p>
            <a:r>
              <a:rPr lang="zh-CN" altLang="en-US" sz="2400">
                <a:sym typeface="+mn-ea"/>
              </a:rPr>
              <a:t>展</a:t>
            </a:r>
            <a:endParaRPr lang="zh-CN" altLang="en-US" sz="2400">
              <a:sym typeface="+mn-ea"/>
            </a:endParaRPr>
          </a:p>
          <a:p>
            <a:r>
              <a:rPr lang="zh-CN" altLang="en-US" sz="2400">
                <a:sym typeface="+mn-ea"/>
              </a:rPr>
              <a:t>示</a:t>
            </a:r>
            <a:endParaRPr lang="zh-CN" altLang="en-US" sz="2400">
              <a:sym typeface="+mn-ea"/>
            </a:endParaRPr>
          </a:p>
          <a:p>
            <a:r>
              <a:rPr lang="zh-CN" altLang="en-US" sz="2400">
                <a:sym typeface="+mn-ea"/>
              </a:rPr>
              <a:t>历</a:t>
            </a:r>
            <a:endParaRPr lang="zh-CN" altLang="en-US" sz="2400">
              <a:sym typeface="+mn-ea"/>
            </a:endParaRPr>
          </a:p>
          <a:p>
            <a:r>
              <a:rPr lang="zh-CN" altLang="en-US" sz="2400">
                <a:sym typeface="+mn-ea"/>
              </a:rPr>
              <a:t>史</a:t>
            </a:r>
            <a:endParaRPr lang="zh-CN" altLang="en-US" sz="2400">
              <a:sym typeface="+mn-ea"/>
            </a:endParaRPr>
          </a:p>
          <a:p>
            <a:r>
              <a:rPr lang="zh-CN" altLang="en-US" sz="2400">
                <a:sym typeface="+mn-ea"/>
              </a:rPr>
              <a:t>数</a:t>
            </a:r>
            <a:endParaRPr lang="zh-CN" altLang="en-US" sz="2400">
              <a:sym typeface="+mn-ea"/>
            </a:endParaRPr>
          </a:p>
          <a:p>
            <a:r>
              <a:rPr lang="zh-CN" altLang="en-US" sz="2400">
                <a:sym typeface="+mn-ea"/>
              </a:rPr>
              <a:t>据</a:t>
            </a:r>
            <a:endParaRPr lang="zh-CN" altLang="en-US" sz="2400"/>
          </a:p>
          <a:p>
            <a:endParaRPr lang="zh-CN" altLang="en-US" sz="2400"/>
          </a:p>
        </p:txBody>
      </p:sp>
      <p:pic>
        <p:nvPicPr>
          <p:cNvPr id="6" name="图片 5" descr="00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5545" y="925830"/>
            <a:ext cx="2372995" cy="2379345"/>
          </a:xfrm>
          <a:prstGeom prst="rect">
            <a:avLst/>
          </a:prstGeom>
        </p:spPr>
      </p:pic>
      <p:pic>
        <p:nvPicPr>
          <p:cNvPr id="10" name="图片 9" descr="111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8505" y="925830"/>
            <a:ext cx="2427605" cy="2397760"/>
          </a:xfrm>
          <a:prstGeom prst="rect">
            <a:avLst/>
          </a:prstGeom>
        </p:spPr>
      </p:pic>
      <p:pic>
        <p:nvPicPr>
          <p:cNvPr id="11" name="图片 10" descr="zz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6840" y="3622675"/>
            <a:ext cx="8474075" cy="26587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1065"/>
            <a:ext cx="4456090" cy="57591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>
                <a:latin typeface="等线" panose="02010600030101010101" pitchFamily="2" charset="-122"/>
                <a:ea typeface="等线" panose="02010600030101010101" pitchFamily="2" charset="-122"/>
              </a:rPr>
              <a:t>全系统</a:t>
            </a:r>
            <a:r>
              <a:rPr lang="zh-CN" altLang="en-US" sz="3200">
                <a:latin typeface="等线" panose="02010600030101010101" pitchFamily="2" charset="-122"/>
                <a:ea typeface="等线" panose="02010600030101010101" pitchFamily="2" charset="-122"/>
              </a:rPr>
              <a:t>架构</a:t>
            </a:r>
            <a:endParaRPr lang="zh-CN" altLang="en-US" sz="32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8" name="图片 7" descr="88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830" y="974090"/>
            <a:ext cx="10594975" cy="55886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1065"/>
            <a:ext cx="4456090" cy="57591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>
                <a:latin typeface="等线" panose="02010600030101010101" pitchFamily="2" charset="-122"/>
                <a:ea typeface="等线" panose="02010600030101010101" pitchFamily="2" charset="-122"/>
              </a:rPr>
              <a:t>低功</a:t>
            </a:r>
            <a:r>
              <a:rPr lang="zh-CN" altLang="en-US" sz="3200">
                <a:latin typeface="等线" panose="02010600030101010101" pitchFamily="2" charset="-122"/>
                <a:ea typeface="等线" panose="02010600030101010101" pitchFamily="2" charset="-122"/>
              </a:rPr>
              <a:t>模式耗</a:t>
            </a:r>
            <a:r>
              <a:rPr lang="zh-CN" altLang="en-US" sz="3200">
                <a:latin typeface="等线" panose="02010600030101010101" pitchFamily="2" charset="-122"/>
                <a:ea typeface="等线" panose="02010600030101010101" pitchFamily="2" charset="-122"/>
              </a:rPr>
              <a:t>演示</a:t>
            </a:r>
            <a:endParaRPr lang="zh-CN" altLang="en-US" sz="32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5555" y="3710305"/>
            <a:ext cx="2849880" cy="12877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65555" y="1473835"/>
            <a:ext cx="9147175" cy="1567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en-US" altLang="zh-CN" sz="2400"/>
              <a:t>configUSE_TICKLESS_IDLE</a:t>
            </a:r>
            <a:r>
              <a:rPr lang="zh-CN" altLang="en-US" sz="2400"/>
              <a:t>改成</a:t>
            </a:r>
            <a:r>
              <a:rPr lang="en-US" altLang="zh-CN" sz="2400"/>
              <a:t>1</a:t>
            </a:r>
            <a:endParaRPr lang="en-US" altLang="zh-CN" sz="2400"/>
          </a:p>
          <a:p>
            <a:pPr marL="342900" indent="-342900">
              <a:buFont typeface="Wingdings" panose="05000000000000000000" charset="0"/>
              <a:buChar char="l"/>
            </a:pPr>
            <a:endParaRPr lang="en-US" altLang="zh-CN" sz="2400"/>
          </a:p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400"/>
              <a:t>在</a:t>
            </a:r>
            <a:r>
              <a:rPr lang="en-US" altLang="zh-CN" sz="2400"/>
              <a:t>PreSleepProcessing</a:t>
            </a:r>
            <a:r>
              <a:rPr lang="zh-CN" altLang="en-US" sz="2400"/>
              <a:t>和</a:t>
            </a:r>
            <a:r>
              <a:rPr lang="en-US" altLang="zh-CN" sz="2400"/>
              <a:t>PostSleepProcessing</a:t>
            </a:r>
            <a:r>
              <a:rPr lang="zh-CN" altLang="en-US" sz="2400"/>
              <a:t>关闭</a:t>
            </a:r>
            <a:r>
              <a:rPr lang="en-US" altLang="zh-CN" sz="2400"/>
              <a:t>/</a:t>
            </a:r>
            <a:r>
              <a:rPr lang="zh-CN" altLang="en-US" sz="2400"/>
              <a:t>开启相关</a:t>
            </a:r>
            <a:r>
              <a:rPr lang="zh-CN" altLang="en-US" sz="2400"/>
              <a:t>时钟</a:t>
            </a:r>
            <a:endParaRPr lang="zh-CN" altLang="en-US" sz="2400"/>
          </a:p>
          <a:p>
            <a:pPr marL="342900" indent="-342900">
              <a:buFont typeface="Wingdings" panose="05000000000000000000" charset="0"/>
              <a:buChar char="l"/>
            </a:pPr>
            <a:endParaRPr lang="zh-CN" altLang="en-US" sz="2400"/>
          </a:p>
          <a:p>
            <a:pPr marL="342900" indent="-342900">
              <a:buFont typeface="Wingdings" panose="05000000000000000000" charset="0"/>
              <a:buChar char="l"/>
            </a:pPr>
            <a:endParaRPr lang="zh-CN" altLang="en-US" sz="2400"/>
          </a:p>
        </p:txBody>
      </p:sp>
      <p:sp>
        <p:nvSpPr>
          <p:cNvPr id="3" name="文本框 2"/>
          <p:cNvSpPr txBox="1"/>
          <p:nvPr/>
        </p:nvSpPr>
        <p:spPr>
          <a:xfrm>
            <a:off x="1924050" y="5137150"/>
            <a:ext cx="1532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USB</a:t>
            </a:r>
            <a:r>
              <a:rPr lang="zh-CN" altLang="en-US"/>
              <a:t>电流计</a:t>
            </a:r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7075" y="3724275"/>
            <a:ext cx="2796540" cy="120396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230" y="3710305"/>
            <a:ext cx="28575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1065"/>
            <a:ext cx="4456090" cy="57591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>
                <a:latin typeface="等线" panose="02010600030101010101" pitchFamily="2" charset="-122"/>
                <a:ea typeface="等线" panose="02010600030101010101" pitchFamily="2" charset="-122"/>
              </a:rPr>
              <a:t>结尾</a:t>
            </a:r>
            <a:endParaRPr lang="zh-CN" altLang="en-US" sz="32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12595" y="1812290"/>
            <a:ext cx="7778750" cy="3950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>
              <a:buFont typeface="Wingdings" panose="05000000000000000000" charset="0"/>
              <a:buChar char="l"/>
            </a:pPr>
            <a:endParaRPr lang="zh-CN" altLang="en-US" sz="2800"/>
          </a:p>
          <a:p>
            <a:pPr marL="457200" indent="-457200">
              <a:buFont typeface="Wingdings" panose="05000000000000000000" charset="0"/>
              <a:buChar char="l"/>
            </a:pPr>
            <a:r>
              <a:rPr lang="zh-CN" altLang="en-US" sz="2800"/>
              <a:t>相关资料在屏幕下方</a:t>
            </a:r>
            <a:r>
              <a:rPr lang="zh-CN" altLang="en-US" sz="2800"/>
              <a:t>网盘</a:t>
            </a:r>
            <a:endParaRPr lang="zh-CN" altLang="en-US" sz="2800"/>
          </a:p>
          <a:p>
            <a:pPr marL="457200" indent="-457200">
              <a:buFont typeface="Wingdings" panose="05000000000000000000" charset="0"/>
              <a:buChar char="l"/>
            </a:pPr>
            <a:endParaRPr lang="zh-CN" altLang="en-US" sz="2800"/>
          </a:p>
          <a:p>
            <a:pPr marL="457200" indent="-457200">
              <a:buFont typeface="Wingdings" panose="05000000000000000000" charset="0"/>
              <a:buChar char="l"/>
            </a:pPr>
            <a:r>
              <a:rPr lang="en-US" altLang="zh-CN" sz="2800"/>
              <a:t>Freertos</a:t>
            </a:r>
            <a:r>
              <a:rPr lang="zh-CN" altLang="en-US" sz="2800"/>
              <a:t>低功耗源码</a:t>
            </a:r>
            <a:r>
              <a:rPr lang="zh-CN" altLang="en-US" sz="2800"/>
              <a:t>解析</a:t>
            </a:r>
            <a:endParaRPr lang="zh-CN" altLang="en-US" sz="2800"/>
          </a:p>
          <a:p>
            <a:pPr marL="457200" indent="-457200">
              <a:buFont typeface="Wingdings" panose="05000000000000000000" charset="0"/>
              <a:buChar char="l"/>
            </a:pPr>
            <a:endParaRPr lang="zh-CN" altLang="en-US" sz="2800"/>
          </a:p>
          <a:p>
            <a:pPr marL="457200" indent="-457200">
              <a:buFont typeface="Wingdings" panose="05000000000000000000" charset="0"/>
              <a:buChar char="l"/>
            </a:pPr>
            <a:r>
              <a:rPr lang="en-US" altLang="zh-CN" sz="2800"/>
              <a:t>DTH11</a:t>
            </a:r>
            <a:r>
              <a:rPr lang="zh-CN" altLang="en-US" sz="2800"/>
              <a:t>波形分析</a:t>
            </a:r>
            <a:endParaRPr lang="zh-CN" altLang="en-US" sz="2800"/>
          </a:p>
          <a:p>
            <a:pPr marL="457200" indent="-457200">
              <a:buFont typeface="Wingdings" panose="05000000000000000000" charset="0"/>
              <a:buChar char="l"/>
            </a:pPr>
            <a:endParaRPr lang="zh-CN" altLang="en-US" sz="2800"/>
          </a:p>
          <a:p>
            <a:pPr marL="457200" indent="-457200">
              <a:buFont typeface="Wingdings" panose="05000000000000000000" charset="0"/>
              <a:buChar char="l"/>
            </a:pPr>
            <a:r>
              <a:rPr lang="zh-CN" altLang="en-US" sz="2800"/>
              <a:t>经典滤波算法</a:t>
            </a:r>
            <a:endParaRPr lang="zh-CN" altLang="en-US" sz="2800">
              <a:sym typeface="+mn-ea"/>
            </a:endParaRPr>
          </a:p>
          <a:p>
            <a:pPr marL="457200" indent="-457200">
              <a:buFont typeface="Wingdings" panose="05000000000000000000" charset="0"/>
              <a:buChar char="l"/>
            </a:pPr>
            <a:endParaRPr lang="zh-CN" altLang="en-US" sz="2800"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379</Words>
  <Application>WPS 演示</Application>
  <PresentationFormat>宽屏</PresentationFormat>
  <Paragraphs>55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宋体</vt:lpstr>
      <vt:lpstr>Wingdings</vt:lpstr>
      <vt:lpstr>等线</vt:lpstr>
      <vt:lpstr>Wingdings</vt:lpstr>
      <vt:lpstr>微软雅黑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! World</dc:creator>
  <cp:lastModifiedBy>微信用户</cp:lastModifiedBy>
  <cp:revision>1787</cp:revision>
  <dcterms:created xsi:type="dcterms:W3CDTF">2019-03-09T07:14:00Z</dcterms:created>
  <dcterms:modified xsi:type="dcterms:W3CDTF">2025-08-15T08:03:42Z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B5A740A6CFA944BCBA046B469FFD0D45_12</vt:lpwstr>
  </property>
  <property fmtid="{D5CDD505-2E9C-101B-9397-08002B2CF9AE}" pid="3" name="KSOProductBuildVer">
    <vt:lpwstr>2052-12.1.0.21915</vt:lpwstr>
  </property>
</Properties>
</file>